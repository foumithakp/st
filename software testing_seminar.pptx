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Economica"/>
      <p:regular r:id="rId24"/>
      <p:bold r:id="rId25"/>
      <p:italic r:id="rId26"/>
      <p:boldItalic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Economica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conomica-italic.fntdata"/><Relationship Id="rId25" Type="http://schemas.openxmlformats.org/officeDocument/2006/relationships/font" Target="fonts/Economica-bold.fntdata"/><Relationship Id="rId28" Type="http://schemas.openxmlformats.org/officeDocument/2006/relationships/font" Target="fonts/OpenSans-regular.fntdata"/><Relationship Id="rId27" Type="http://schemas.openxmlformats.org/officeDocument/2006/relationships/font" Target="fonts/Economic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1a770e9d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11a770e9d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11a770e9d6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11a770e9d6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11a770e9d6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11a770e9d6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1a770e9d6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11a770e9d6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11a770e9d6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11a770e9d6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1a770e9d6_2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11a770e9d6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97f580d0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97f580d0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97f580d0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97f580d0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97f580d0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97f580d0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221692d1a_0_1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1221692d1a_0_1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97f580d0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97f580d0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221692d1a_0_1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1221692d1a_0_1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1221692d1a_0_1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1221692d1a_0_1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221692d1a_0_1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1221692d1a_0_1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1221692d1a_0_1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1221692d1a_0_1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11cc114d6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11cc114d6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11cc114d6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11cc114d6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34422"/>
            <a:ext cx="3054600" cy="23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600">
                <a:latin typeface="Times New Roman"/>
                <a:ea typeface="Times New Roman"/>
                <a:cs typeface="Times New Roman"/>
                <a:sym typeface="Times New Roman"/>
              </a:rPr>
              <a:t>Integration Testing: Bridging Unit and End-to-End Tests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11700" y="2834125"/>
            <a:ext cx="8520600" cy="19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  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by,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Foumitha K P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Mtech Cse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253225"/>
            <a:ext cx="8520600" cy="51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Times New Roman"/>
                <a:ea typeface="Times New Roman"/>
                <a:cs typeface="Times New Roman"/>
                <a:sym typeface="Times New Roman"/>
              </a:rPr>
              <a:t>Integration Testing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967625"/>
            <a:ext cx="8520600" cy="3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Integration testing is a software testing technique where individual units or modules are combined and tested as a group.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The goal is to verify how well these modules interact with each other and work together to form a functioning system.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It ensures smooth data flow and communication between components like frontend, backend, and database.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Acts as a bridge between unit testing and end-to-end testing.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Helps to detect interface mismatches, broken APIs, and integration errors early in development.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Commonly performed after unit testing and before system or user acceptance testing.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185400"/>
            <a:ext cx="8520600" cy="5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Times New Roman"/>
                <a:ea typeface="Times New Roman"/>
                <a:cs typeface="Times New Roman"/>
                <a:sym typeface="Times New Roman"/>
              </a:rPr>
              <a:t>Types of Software Testing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716700"/>
            <a:ext cx="8520600" cy="40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Unit Testing – Tests individual functions in isolation.</a:t>
            </a: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Eg</a:t>
            </a: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: Testing a function that calculates the sum of two numbers.</a:t>
            </a: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Integration Testing – Tests interaction between modules.</a:t>
            </a: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Eg</a:t>
            </a: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: Submitting a form and verifying if the backend calculates the result correctly.</a:t>
            </a: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System Testing – Tests the entire system’s functionality.</a:t>
            </a: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Eg</a:t>
            </a: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: Checking if all features in the calculator app (UI + backend + result display) work together.</a:t>
            </a: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Acceptance Testing – Ensures the software meets user requirements.</a:t>
            </a: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Eg</a:t>
            </a: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: Client verifies that the calculator handles all expected operations before approving.</a:t>
            </a: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End-to-End Testing – Simulates complete user workflow.</a:t>
            </a: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Eg</a:t>
            </a: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: A user opens the site, enters numbers, clicks "Add", and sees the result.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6300"/>
            <a:ext cx="8520600" cy="65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Times New Roman"/>
                <a:ea typeface="Times New Roman"/>
                <a:cs typeface="Times New Roman"/>
                <a:sym typeface="Times New Roman"/>
              </a:rPr>
              <a:t>Types of Integration Testing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11375"/>
            <a:ext cx="8520600" cy="37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5270100" y="2683675"/>
            <a:ext cx="389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3" name="Google Shape;83;p16" title="Integration-Testing-Types-1024x4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050" y="1290300"/>
            <a:ext cx="7087849" cy="336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196700"/>
            <a:ext cx="8520600" cy="79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latin typeface="Times New Roman"/>
                <a:ea typeface="Times New Roman"/>
                <a:cs typeface="Times New Roman"/>
                <a:sym typeface="Times New Roman"/>
              </a:rPr>
              <a:t>Types of Integration Testing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275050"/>
            <a:ext cx="8520600" cy="36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AutoNum type="arabicParenR"/>
            </a:pPr>
            <a:r>
              <a:rPr b="1" lang="en-GB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Incremental Integration Testing:</a:t>
            </a:r>
            <a:endParaRPr b="1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Integrate and test one module at a time, slowly build the full system.</a:t>
            </a:r>
            <a:endParaRPr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Eg: First test addition feature, then subtraction, and so on, one by one.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Advantage: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Easier to find bugs early.</a:t>
            </a:r>
            <a:endParaRPr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 has three types: </a:t>
            </a:r>
            <a:endParaRPr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Top-Down </a:t>
            </a:r>
            <a:r>
              <a:rPr lang="en-GB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Integration</a:t>
            </a:r>
            <a:endParaRPr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Bottom-Up </a:t>
            </a:r>
            <a:r>
              <a:rPr lang="en-GB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Integration</a:t>
            </a:r>
            <a:endParaRPr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Big Bang Integration</a:t>
            </a:r>
            <a:endParaRPr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458600"/>
            <a:ext cx="8520600" cy="44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1.1. Top-down Integration Testing:</a:t>
            </a:r>
            <a:endParaRPr b="1"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Start testing from the top (UI or main control module), then slowly integrate and test the lower-level modules.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Eg: First test your HTML form submission, then slowly connect it to backend /calculate route.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Use tools like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stubs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to simulate modules not yet ready.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/>
        </p:nvSpPr>
        <p:spPr>
          <a:xfrm>
            <a:off x="383900" y="503975"/>
            <a:ext cx="8448300" cy="4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1.2.  Bottom-up Integration Testing:</a:t>
            </a:r>
            <a:endParaRPr b="1"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testing from the lower-level modules (like backend logic), then add the UI later.</a:t>
            </a:r>
            <a:b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Eg: First test your Flask route logic that adds, subtracts, etc., then connect the HTML form.</a:t>
            </a:r>
            <a:b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tools like </a:t>
            </a: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drivers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simulate input from upper modules.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/>
        </p:nvSpPr>
        <p:spPr>
          <a:xfrm>
            <a:off x="383900" y="424600"/>
            <a:ext cx="8448300" cy="44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1.2. Sandwich Integration Testing:</a:t>
            </a:r>
            <a:endParaRPr b="1"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 both Top-Down and Bottom-Up, test from both ends and meet in the middle.</a:t>
            </a:r>
            <a:b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Eg: Test the frontend and backend in parallel, then connect both in the middle layer.</a:t>
            </a:r>
            <a:b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teams work on different parts at the same time.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367900"/>
            <a:ext cx="8520600" cy="44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2.  Big Bang Integration Testing</a:t>
            </a:r>
            <a:endParaRPr b="1"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120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All the modules (frontend, backend, database) are developed first and then tested all together at once.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Eg: You complete the HTML form, the Flask backend, and all calculations, then test everything together.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Advantage: Fast to implement.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Disadvantage: If an error occurs, it’s hard to find where it happened.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315925"/>
            <a:ext cx="8520600" cy="66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Times New Roman"/>
                <a:ea typeface="Times New Roman"/>
                <a:cs typeface="Times New Roman"/>
                <a:sym typeface="Times New Roman"/>
              </a:rPr>
              <a:t>Tools for Integration Testing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ytest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: Unit &amp; Integration test framework in Python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Cypress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: API testing and end-to-end testing for frontend/backend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Selenium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: UI automation testing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BrowserStack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: For testing the UI across multiple browsers and devices.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768000"/>
            <a:ext cx="8520600" cy="2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latin typeface="Times New Roman"/>
                <a:ea typeface="Times New Roman"/>
                <a:cs typeface="Times New Roman"/>
                <a:sym typeface="Times New Roman"/>
              </a:rPr>
              <a:t>Integration Testing on Flask Calculator App Using Pytest, Cypress, Selenium &amp; BrowserStack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162775"/>
            <a:ext cx="8520600" cy="65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Times New Roman"/>
                <a:ea typeface="Times New Roman"/>
                <a:cs typeface="Times New Roman"/>
                <a:sym typeface="Times New Roman"/>
              </a:rPr>
              <a:t>Demo: Test Suite Components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818575"/>
            <a:ext cx="8520600" cy="39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Flask App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: Calculator logic &amp; routes.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pytest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: For JSON-based API endpoint tests.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Cypress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: For testing API + UI flow.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Selenium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: For browser-based form automation.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BrowserStack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: For real device testing.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Each file/module: </a:t>
            </a:r>
            <a:r>
              <a:rPr lang="en-GB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app.py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(Flask app), </a:t>
            </a:r>
            <a:r>
              <a:rPr lang="en-GB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test_api.py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(pytest), </a:t>
            </a:r>
            <a:r>
              <a:rPr lang="en-GB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cypress/integration/calc_spec.js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selenium_test.py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-GB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browserstack_test.py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174100"/>
            <a:ext cx="8520600" cy="62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500">
                <a:latin typeface="Times New Roman"/>
                <a:ea typeface="Times New Roman"/>
                <a:cs typeface="Times New Roman"/>
                <a:sym typeface="Times New Roman"/>
              </a:rPr>
              <a:t>Sample Pytest Integration Test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908875"/>
            <a:ext cx="8520600" cy="38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The test sends a POST request to the </a:t>
            </a:r>
            <a:r>
              <a:rPr lang="en-GB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/add</a:t>
            </a: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 route.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It includes two numbers in JSON format (like </a:t>
            </a:r>
            <a:r>
              <a:rPr lang="en-GB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{"a": 5, "b": 3}</a:t>
            </a: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The Flask app processes this data and returns the sum.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The test checks if the response is correct (in this case, </a:t>
            </a:r>
            <a:r>
              <a:rPr lang="en-GB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Similar tests are written for subtract, multiply, and divide operations.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" name="Google Shape;1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075" y="1021925"/>
            <a:ext cx="8149399" cy="177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11700" y="315925"/>
            <a:ext cx="8520600" cy="45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100"/>
              <a:buNone/>
            </a:pPr>
            <a:r>
              <a:rPr b="1" lang="en-GB" sz="2500">
                <a:latin typeface="Times New Roman"/>
                <a:ea typeface="Times New Roman"/>
                <a:cs typeface="Times New Roman"/>
                <a:sym typeface="Times New Roman"/>
              </a:rPr>
              <a:t>Sample Cypress Test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311700" y="767825"/>
            <a:ext cx="8520600" cy="4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Cypress test sends a request to our Flask API (like </a:t>
            </a:r>
            <a:r>
              <a:rPr lang="en-GB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/add</a:t>
            </a: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It checks if the result is correct (e.g., 5 + 3 = 8).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This shows how Cypress can be used for API testing.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Cypress can also do UI testing by using </a:t>
            </a:r>
            <a:r>
              <a:rPr lang="en-GB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cy.visit()</a:t>
            </a: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 to open the page.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Then it can click buttons and fill forms just like a real user.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" name="Google Shape;14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550" y="1002825"/>
            <a:ext cx="7585249" cy="182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390225" y="886275"/>
            <a:ext cx="8440800" cy="39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7"/>
          <p:cNvSpPr txBox="1"/>
          <p:nvPr/>
        </p:nvSpPr>
        <p:spPr>
          <a:xfrm>
            <a:off x="390225" y="174100"/>
            <a:ext cx="83280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Selenium UI Test Example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525" y="846900"/>
            <a:ext cx="8234874" cy="17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7"/>
          <p:cNvSpPr txBox="1"/>
          <p:nvPr/>
        </p:nvSpPr>
        <p:spPr>
          <a:xfrm>
            <a:off x="397925" y="648875"/>
            <a:ext cx="86139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script uses Selenium to open the calculator webpage.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fills the form with two numbers and selects an operation (like multiply).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it clicks the Calculate button like a real user.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checks if the correct result is shown on the page.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confirms that the form and backend are working together properly.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311700" y="160450"/>
            <a:ext cx="8520600" cy="47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8"/>
          <p:cNvSpPr txBox="1"/>
          <p:nvPr/>
        </p:nvSpPr>
        <p:spPr>
          <a:xfrm>
            <a:off x="311700" y="160450"/>
            <a:ext cx="82785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 </a:t>
            </a:r>
            <a:r>
              <a:rPr b="1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BrowserStack Cross-Browser Test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8"/>
          <p:cNvSpPr txBox="1"/>
          <p:nvPr/>
        </p:nvSpPr>
        <p:spPr>
          <a:xfrm>
            <a:off x="311700" y="716450"/>
            <a:ext cx="8278500" cy="41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test uses BrowserStack to run on a cloud machine (not your computer).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opens your calculator app in a real browser like Chrome or Safari on that machine.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it fills the form and checks the result, just like the Selenium test.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helps you make sure the app works on different browsers and systems.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also test on Mac, iPhones, Android phones, etc., using BrowserStack.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" name="Google Shape;1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888" y="873975"/>
            <a:ext cx="8026125" cy="22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311700" y="316300"/>
            <a:ext cx="8520600" cy="5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lang="en-GB" sz="2500">
                <a:latin typeface="Times New Roman"/>
                <a:ea typeface="Times New Roman"/>
                <a:cs typeface="Times New Roman"/>
                <a:sym typeface="Times New Roman"/>
              </a:rPr>
              <a:t>ONCLUSION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9"/>
          <p:cNvSpPr txBox="1"/>
          <p:nvPr>
            <p:ph idx="1" type="body"/>
          </p:nvPr>
        </p:nvSpPr>
        <p:spPr>
          <a:xfrm>
            <a:off x="311700" y="1072100"/>
            <a:ext cx="8520600" cy="3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Integration testing ensures that different components of a system work together correctly.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Even simple applications benefit from automated and structured integration testing.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Pytest is effective for verifying backend logic and API responses.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Cypress and Selenium provide powerful automation for both API and UI workflows.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BrowserStack supports testing across various browsers and devices for compatibility.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159225"/>
            <a:ext cx="8520600" cy="44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r>
              <a:rPr lang="en-GB" sz="3000">
                <a:solidFill>
                  <a:schemeClr val="dk1"/>
                </a:solidFill>
              </a:rPr>
              <a:t> </a:t>
            </a:r>
            <a:r>
              <a:rPr lang="en-GB"/>
              <a:t>        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